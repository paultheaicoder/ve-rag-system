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926080"/>
            <a:ext cx="12191695" cy="36576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>
                <a:solidFill>
                  <a:srgbClr val="FFFFFF"/>
                </a:solidFill>
                <a:latin typeface="Calibri"/>
              </a:rPr>
              <a:t>AI Ready RAG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2860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0">
                <a:solidFill>
                  <a:srgbClr val="0096D6"/>
                </a:solidFill>
                <a:latin typeface="Calibri"/>
              </a:rPr>
              <a:t>Marketing Requirements Document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474720"/>
            <a:ext cx="10058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9999AA"/>
                </a:solidFill>
                <a:latin typeface="Calibri"/>
              </a:rPr>
              <a:t>Air-Gapped Enterprise Knowledge Assistant
for NVIDIA DGX Spark &amp; Hosted Deployment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53035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999AA"/>
                </a:solidFill>
                <a:latin typeface="Calibri"/>
              </a:rPr>
              <a:t>February 13, 2026  |  Vital Enterprises — Internal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0" y="53035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400" b="0">
                <a:solidFill>
                  <a:srgbClr val="9999AA"/>
                </a:solidFill>
                <a:latin typeface="Calibri"/>
              </a:rPr>
              <a:t>Presented by Jason &amp; Paul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D2D3D"/>
                </a:solidFill>
                <a:latin typeface="Calibri"/>
              </a:rP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D2D3D"/>
                </a:solidFill>
                <a:latin typeface="Calibri"/>
              </a:rPr>
              <a:t>AI Ready RAG is an air-gapped enterprise knowledge assistant that enables organizations to search, query, and get cited answers from internal documents — without any data leaving their infrastructure.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3291840" cy="164592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2148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6D6"/>
                </a:solidFill>
                <a:latin typeface="Calibri"/>
              </a:rPr>
              <a:t>Air-Gapped Security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5146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3D"/>
                </a:solidFill>
                <a:latin typeface="Calibri"/>
              </a:rPr>
              <a:t>No data leaves the customer's network.
Full runtime independence
from the internet.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2011680"/>
            <a:ext cx="3291840" cy="164592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480560" y="2148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6D6"/>
                </a:solidFill>
                <a:latin typeface="Calibri"/>
              </a:rPr>
              <a:t>Lower Total Cost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80560" y="25146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3D"/>
                </a:solidFill>
                <a:latin typeface="Calibri"/>
              </a:rPr>
              <a:t>Predictable $850/month pricing vs.
enterprise platforms at
$2,000-$8,600+/month.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863840" y="2011680"/>
            <a:ext cx="3291840" cy="164592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046720" y="2148840"/>
            <a:ext cx="29260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96D6"/>
                </a:solidFill>
                <a:latin typeface="Calibri"/>
              </a:rPr>
              <a:t>Customer Service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0" y="2514600"/>
            <a:ext cx="29260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3D"/>
                </a:solidFill>
                <a:latin typeface="Calibri"/>
              </a:rPr>
              <a:t>Hands-on rollout, operator
onboarding, and ongoing support.
Not self-service DIY.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2D3D"/>
                </a:solidFill>
                <a:latin typeface="Calibri"/>
              </a:rPr>
              <a:t>Business Targets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480560"/>
            <a:ext cx="100584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700" b="1">
                <a:solidFill>
                  <a:srgbClr val="2D2D3D"/>
                </a:solidFill>
                <a:latin typeface="Calibri"/>
              </a:rPr>
              <a:t>Mar 16 </a:t>
            </a:r>
            <a:r>
              <a:rPr sz="1700" b="0">
                <a:solidFill>
                  <a:srgbClr val="2D2D3D"/>
                </a:solidFill>
                <a:latin typeface="Calibri"/>
              </a:rPr>
              <a:t> — Internal testing (2-3 Vital Enterprises organizations)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D2D3D"/>
                </a:solidFill>
                <a:latin typeface="Calibri"/>
              </a:rPr>
              <a:t>Apr 20 </a:t>
            </a:r>
            <a:r>
              <a:rPr sz="1700" b="0">
                <a:solidFill>
                  <a:srgbClr val="2D2D3D"/>
                </a:solidFill>
                <a:latin typeface="Calibri"/>
              </a:rPr>
              <a:t> — Demo customers enabled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D2D3D"/>
                </a:solidFill>
                <a:latin typeface="Calibri"/>
              </a:rPr>
              <a:t>May 25 </a:t>
            </a:r>
            <a:r>
              <a:rPr sz="1700" b="0">
                <a:solidFill>
                  <a:srgbClr val="2D2D3D"/>
                </a:solidFill>
                <a:latin typeface="Calibri"/>
              </a:rPr>
              <a:t> — Product launch (GA)</a:t>
            </a:r>
          </a:p>
          <a:p>
            <a:pPr>
              <a:spcAft>
                <a:spcPts val="800"/>
              </a:spcAft>
            </a:pPr>
            <a:r>
              <a:rPr sz="1700" b="1">
                <a:solidFill>
                  <a:srgbClr val="2D2D3D"/>
                </a:solidFill>
                <a:latin typeface="Calibri"/>
              </a:rPr>
              <a:t>Sep 16 </a:t>
            </a:r>
            <a:r>
              <a:rPr sz="1700" b="0">
                <a:solidFill>
                  <a:srgbClr val="2D2D3D"/>
                </a:solidFill>
                <a:latin typeface="Calibri"/>
              </a:rPr>
              <a:t> — 6 paid pilots closed ($5,100 MRR)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D2D3D"/>
                </a:solidFill>
                <a:latin typeface="Calibri"/>
              </a:rPr>
              <a:t>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D2D3D"/>
                </a:solidFill>
                <a:latin typeface="Calibri"/>
              </a:rPr>
              <a:t>Critical operational knowledge is trapped in documents employees can't find quickly.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645920"/>
            <a:ext cx="10515600" cy="77724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96D6"/>
                </a:solidFill>
                <a:latin typeface="Calibri"/>
              </a:rPr>
              <a:t>Document search is slow</a:t>
            </a:r>
            <a:r>
              <a:rPr sz="1500">
                <a:solidFill>
                  <a:srgbClr val="2D2D3D"/>
                </a:solidFill>
                <a:latin typeface="Calibri"/>
              </a:rPr>
              <a:t> — Employees spend 20-30% of time searching across scattered systems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514600"/>
            <a:ext cx="10515600" cy="77724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260604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96D6"/>
                </a:solidFill>
                <a:latin typeface="Calibri"/>
              </a:rPr>
              <a:t>Onboarding takes too long</a:t>
            </a:r>
            <a:r>
              <a:rPr sz="1500">
                <a:solidFill>
                  <a:srgbClr val="2D2D3D"/>
                </a:solidFill>
                <a:latin typeface="Calibri"/>
              </a:rPr>
              <a:t> — New hires take weeks; institutional knowledge lives in people's heads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383280"/>
            <a:ext cx="10515600" cy="77724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96D6"/>
                </a:solidFill>
                <a:latin typeface="Calibri"/>
              </a:rPr>
              <a:t>Process execution is inconsistent</a:t>
            </a:r>
            <a:r>
              <a:rPr sz="1500">
                <a:solidFill>
                  <a:srgbClr val="2D2D3D"/>
                </a:solidFill>
                <a:latin typeface="Calibri"/>
              </a:rPr>
              <a:t> — Different employees follow different procedure versions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251960"/>
            <a:ext cx="10515600" cy="77724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05840" y="434340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96D6"/>
                </a:solidFill>
                <a:latin typeface="Calibri"/>
              </a:rPr>
              <a:t>Knowledge lost on turnover</a:t>
            </a:r>
            <a:r>
              <a:rPr sz="1500">
                <a:solidFill>
                  <a:srgbClr val="2D2D3D"/>
                </a:solidFill>
                <a:latin typeface="Calibri"/>
              </a:rPr>
              <a:t> — When experienced staff leave, their knowledge leaves too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5120640"/>
            <a:ext cx="10515600" cy="77724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05840" y="521208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0096D6"/>
                </a:solidFill>
                <a:latin typeface="Calibri"/>
              </a:rPr>
              <a:t>Cloud AI is not acceptable</a:t>
            </a:r>
            <a:r>
              <a:rPr sz="1500">
                <a:solidFill>
                  <a:srgbClr val="2D2D3D"/>
                </a:solidFill>
                <a:latin typeface="Calibri"/>
              </a:rPr>
              <a:t> — Security/compliance prevents sending documents to cloud services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D2D3D"/>
                </a:solidFill>
                <a:latin typeface="Calibri"/>
              </a:rPr>
              <a:t>Why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D2D3D"/>
                </a:solidFill>
                <a:latin typeface="Calibri"/>
              </a:rPr>
              <a:t>Four market inflections create a unique window (March - September 2026):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737360"/>
            <a:ext cx="2468880" cy="201168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874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8A"/>
                </a:solidFill>
                <a:latin typeface="Calibri"/>
              </a:rPr>
              <a:t>Hardware Cost Inflection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22402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3D"/>
                </a:solidFill>
                <a:latin typeface="Calibri"/>
              </a:rPr>
              <a:t>DGX Spark at $3,999 makes local
GPU inference viable for SMB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429000" y="1737360"/>
            <a:ext cx="2468880" cy="201168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611880" y="1874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8A"/>
                </a:solidFill>
                <a:latin typeface="Calibri"/>
              </a:rPr>
              <a:t>Model Quality Inflection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11880" y="22402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3D"/>
                </a:solidFill>
                <a:latin typeface="Calibri"/>
              </a:rPr>
              <a:t>8B open-source models now rival
cloud models from 12 months ago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80" y="1737360"/>
            <a:ext cx="2468880" cy="201168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09360" y="1874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8A"/>
                </a:solidFill>
                <a:latin typeface="Calibri"/>
              </a:rPr>
              <a:t>Regulatory Pressure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22402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3D"/>
                </a:solidFill>
                <a:latin typeface="Calibri"/>
              </a:rPr>
              <a:t>Increasing data sovereignty requirements
in legal, financial, government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823960" y="1737360"/>
            <a:ext cx="2468880" cy="201168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06840" y="187452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>
                <a:solidFill>
                  <a:srgbClr val="00B48A"/>
                </a:solidFill>
                <a:latin typeface="Calibri"/>
              </a:rPr>
              <a:t>Competitive Gap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06840" y="2240280"/>
            <a:ext cx="2103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3D"/>
                </a:solidFill>
                <a:latin typeface="Calibri"/>
              </a:rPr>
              <a:t>Competitors are cloud-first or DIY.
True air-gap + turnkey is unoccupied.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D2D3D"/>
                </a:solidFill>
                <a:latin typeface="Calibri"/>
              </a:rPr>
              <a:t>Product Vision &amp; Deployment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D2D3D"/>
                </a:solidFill>
                <a:latin typeface="Calibri"/>
              </a:rPr>
              <a:t>Every mid-market and regulated enterprise has critical operational knowledge trapped in documents.
AI Ready RAG makes it instantly accessible — all running inside the customer's own walls.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11680"/>
            <a:ext cx="5029200" cy="310896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96D6"/>
                </a:solidFill>
                <a:latin typeface="Calibri"/>
              </a:rPr>
              <a:t>On-Premise (DGX Spark)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6517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Customer purchases NVIDIA DGX Spark ($3,999)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AI Ready RAG pre-installed or deployed on-site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All data stays on customer hardware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Zero network dependency at runtime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Physical air-gap for maximum security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2011680"/>
            <a:ext cx="5029200" cy="310896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21945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96D6"/>
                </a:solidFill>
                <a:latin typeface="Calibri"/>
              </a:rPr>
              <a:t>Hosted (Dedicated Instance)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2651760"/>
            <a:ext cx="45720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Vital Enterprises manages the infrastructure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Dedicated single-tenant instance per customer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NOT multi-tenant — fully isolated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Private encrypted connection only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Customer data never exposed to public internet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3949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0096D6"/>
                </a:solidFill>
                <a:latin typeface="Calibri"/>
              </a:rPr>
              <a:t>Both models deliver the same data isolation guarantee. The difference is who manages the hardware, not how the data is protected.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D2D3D"/>
                </a:solidFill>
                <a:latin typeface="Calibri"/>
              </a:rPr>
              <a:t>Target Customer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D2D3D"/>
                </a:solidFill>
                <a:latin typeface="Calibri"/>
              </a:rPr>
              <a:t>Company size: </a:t>
            </a:r>
            <a:r>
              <a:rPr sz="1600" b="0">
                <a:solidFill>
                  <a:srgbClr val="2D2D3D"/>
                </a:solidFill>
                <a:latin typeface="Calibri"/>
              </a:rPr>
              <a:t>20-300 employees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D2D3D"/>
                </a:solidFill>
                <a:latin typeface="Calibri"/>
              </a:rPr>
              <a:t>Verticals: </a:t>
            </a:r>
            <a:r>
              <a:rPr sz="1600" b="0">
                <a:solidFill>
                  <a:srgbClr val="2D2D3D"/>
                </a:solidFill>
                <a:latin typeface="Calibri"/>
              </a:rPr>
              <a:t>Legal, Manufacturing, Financial Services, Agriculture, Landscaping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D2D3D"/>
                </a:solidFill>
                <a:latin typeface="Calibri"/>
              </a:rPr>
              <a:t>Geography: </a:t>
            </a:r>
            <a:r>
              <a:rPr sz="1600" b="0">
                <a:solidFill>
                  <a:srgbClr val="2D2D3D"/>
                </a:solidFill>
                <a:latin typeface="Calibri"/>
              </a:rPr>
              <a:t>West Coast first (Portland, OR hub)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D2D3D"/>
                </a:solidFill>
                <a:latin typeface="Calibri"/>
              </a:rPr>
              <a:t>Workflow: </a:t>
            </a:r>
            <a:r>
              <a:rPr sz="1600" b="0">
                <a:solidFill>
                  <a:srgbClr val="2D2D3D"/>
                </a:solidFill>
                <a:latin typeface="Calibri"/>
              </a:rPr>
              <a:t>Document-heavy operations (SOPs, policies, training, compliance)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D2D3D"/>
                </a:solidFill>
                <a:latin typeface="Calibri"/>
              </a:rPr>
              <a:t>Security: </a:t>
            </a:r>
            <a:r>
              <a:rPr sz="1600" b="0">
                <a:solidFill>
                  <a:srgbClr val="2D2D3D"/>
                </a:solidFill>
                <a:latin typeface="Calibri"/>
              </a:rPr>
              <a:t>Cloud hesitation or air-gap requirement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D2D3D"/>
                </a:solidFill>
                <a:latin typeface="Calibri"/>
              </a:rPr>
              <a:t>Buyer: </a:t>
            </a:r>
            <a:r>
              <a:rPr sz="1600" b="0">
                <a:solidFill>
                  <a:srgbClr val="2D2D3D"/>
                </a:solidFill>
                <a:latin typeface="Calibri"/>
              </a:rPr>
              <a:t>Operations leader (not CTO or ML team)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D2D3D"/>
                </a:solidFill>
                <a:latin typeface="Calibri"/>
              </a:rPr>
              <a:t>Budget: </a:t>
            </a:r>
            <a:r>
              <a:rPr sz="1600" b="0">
                <a:solidFill>
                  <a:srgbClr val="2D2D3D"/>
                </a:solidFill>
                <a:latin typeface="Calibri"/>
              </a:rPr>
              <a:t>Can approve $850/month without enterprise procurement cycle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675120" y="1005840"/>
            <a:ext cx="4754880" cy="438912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949440" y="1188720"/>
            <a:ext cx="4206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96D6"/>
                </a:solidFill>
                <a:latin typeface="Calibri"/>
              </a:rPr>
              <a:t>Primary Buyer: Operations Leader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949440" y="1645920"/>
            <a:ext cx="420624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VP Ops / Director of Operations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10-100 direct/indirect reports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Pain: search time, slow onboarding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Pain: inconsistent processes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Pain: knowledge loss from turnover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Controls departmental OpEx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Not technical enough for DIY RAG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D2D3D"/>
                </a:solidFill>
                <a:latin typeface="Calibri"/>
              </a:rPr>
              <a:t>MVP Features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3383280" cy="502920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1188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B48A"/>
                </a:solidFill>
                <a:latin typeface="Calibri"/>
              </a:rPr>
              <a:t>IMPLEMENTED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Document ingestion (6 formats)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Natural language query + citations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Pre-retrieval access control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Multi-turn chat sessions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User management + tags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React web application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3-level audit logging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JWT authentication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1097280"/>
            <a:ext cx="3383280" cy="502920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0" y="1188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B700"/>
                </a:solidFill>
                <a:latin typeface="Calibri"/>
              </a:rPr>
              <a:t>PLANNED (P0)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AD/SSO integration (Entra ID)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Embeddable chat widget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Usage reports &amp; analytics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Backup / restore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Tiered XLSX ingestion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046720" y="1097280"/>
            <a:ext cx="3383280" cy="5029200"/>
          </a:xfrm>
          <a:prstGeom prst="roundRect">
            <a:avLst/>
          </a:prstGeom>
          <a:solidFill>
            <a:srgbClr val="E3F2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0" y="1188720"/>
            <a:ext cx="3017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96D6"/>
                </a:solidFill>
                <a:latin typeface="Calibri"/>
              </a:rPr>
              <a:t>IN DEVELOPMENT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0" y="1645920"/>
            <a:ext cx="30175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RAG quality evaluation (RAGAS)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Confidence scoring (CITE/ROUTE)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Hallucination checking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Tiered PDF ingestion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263640"/>
            <a:ext cx="10515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999AA"/>
                </a:solidFill>
                <a:latin typeface="Calibri"/>
              </a:rPr>
              <a:t>Supported formats: PDF, DOCX, XLSX, PPTX, TXT, MD  |  English (MVP)  |  Spanish (evaluating)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D2D3D"/>
                </a:solidFill>
                <a:latin typeface="Calibri"/>
              </a:rPr>
              <a:t>Competitive Landscape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2D2D3D"/>
                </a:solidFill>
                <a:latin typeface="Calibri"/>
              </a:rPr>
              <a:t>15 competitors analyzed. AI Ready RAG occupies an uncontested position: affordable + air-gapped + turnkey.</a:t>
            </a:r>
          </a:p>
        </p:txBody>
      </p:sp>
      <p:sp>
        <p:nvSpPr>
          <p:cNvPr id="5" name="Rectangle 4"/>
          <p:cNvSpPr/>
          <p:nvPr/>
        </p:nvSpPr>
        <p:spPr>
          <a:xfrm>
            <a:off x="1371600" y="3931920"/>
            <a:ext cx="9144000" cy="18288"/>
          </a:xfrm>
          <a:prstGeom prst="rect">
            <a:avLst/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0" y="1645920"/>
            <a:ext cx="18288" cy="4572000"/>
          </a:xfrm>
          <a:prstGeom prst="rect">
            <a:avLst/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0" y="132588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999AA"/>
                </a:solidFill>
                <a:latin typeface="Calibri"/>
              </a:rPr>
              <a:t>High Air-Gap Capability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846320" y="6263640"/>
            <a:ext cx="27432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999AA"/>
                </a:solidFill>
                <a:latin typeface="Calibri"/>
              </a:rPr>
              <a:t>Low Air-Gap Capability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611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999AA"/>
                </a:solidFill>
                <a:latin typeface="Calibri"/>
              </a:rPr>
              <a:t>SMB Affordable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869680" y="3611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9999AA"/>
                </a:solidFill>
                <a:latin typeface="Calibri"/>
              </a:rPr>
              <a:t>Enterprise Priced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828800" y="1920240"/>
            <a:ext cx="2286000" cy="6400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920240" y="1965960"/>
            <a:ext cx="2103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AI Ready RAG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45920" y="43891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3D"/>
                </a:solidFill>
                <a:latin typeface="Calibri"/>
              </a:rPr>
              <a:t>OSS Stacks
(Qdrant, OpenSearch, Haystack,
LangChain, LlamaIndex)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19202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3D"/>
                </a:solidFill>
                <a:latin typeface="Calibri"/>
              </a:rPr>
              <a:t>Sinequa, Mindbreeze
(enterprise price)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4389120"/>
            <a:ext cx="3657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2D2D3D"/>
                </a:solidFill>
                <a:latin typeface="Calibri"/>
              </a:rPr>
              <a:t>AWS Kendra, Azure AI Search,
Elastic, IBM watsonx, SearchBlox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D2D3D"/>
                </a:solidFill>
                <a:latin typeface="Calibri"/>
              </a:rPr>
              <a:t>Competitive Pricing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D2D3D"/>
                </a:solidFill>
                <a:latin typeface="Calibri"/>
              </a:rPr>
              <a:t>AI Ready RAG at $850/month is the only affordable, turnkey, air-gapped option.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1">
                <a:solidFill>
                  <a:srgbClr val="0096D6"/>
                </a:solidFill>
                <a:latin typeface="Calibri"/>
              </a:rPr>
              <a:t>AI Ready RAG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926080" y="1691640"/>
            <a:ext cx="764557" cy="411480"/>
          </a:xfrm>
          <a:prstGeom prst="round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827797" y="16459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0096D6"/>
                </a:solidFill>
                <a:latin typeface="Calibri"/>
              </a:rPr>
              <a:t>$850/mo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42316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2D2D3D"/>
                </a:solidFill>
                <a:latin typeface="Calibri"/>
              </a:rPr>
              <a:t>AWS Kendra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926080" y="2468880"/>
            <a:ext cx="457200" cy="411480"/>
          </a:xfrm>
          <a:prstGeom prst="round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20440" y="242316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3D"/>
                </a:solidFill>
                <a:latin typeface="Calibri"/>
              </a:rPr>
              <a:t>$230/mo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2D2D3D"/>
                </a:solidFill>
                <a:latin typeface="Calibri"/>
              </a:rPr>
              <a:t>Weaviate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926080" y="3246120"/>
            <a:ext cx="457200" cy="411480"/>
          </a:xfrm>
          <a:prstGeom prst="round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320040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3D"/>
                </a:solidFill>
                <a:latin typeface="Calibri"/>
              </a:rPr>
              <a:t>$400/mo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7764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2D2D3D"/>
                </a:solidFill>
                <a:latin typeface="Calibri"/>
              </a:rPr>
              <a:t>SearchBlox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926080" y="4023360"/>
            <a:ext cx="1873615" cy="411480"/>
          </a:xfrm>
          <a:prstGeom prst="round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36855" y="397764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3D"/>
                </a:solidFill>
                <a:latin typeface="Calibri"/>
              </a:rPr>
              <a:t>$2,083/mo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475488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2D2D3D"/>
                </a:solidFill>
                <a:latin typeface="Calibri"/>
              </a:rPr>
              <a:t>IBM watsonx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2926080" y="4800600"/>
            <a:ext cx="944453" cy="411480"/>
          </a:xfrm>
          <a:prstGeom prst="round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007693" y="475488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3D"/>
                </a:solidFill>
                <a:latin typeface="Calibri"/>
              </a:rPr>
              <a:t>$1,050/mo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5532120"/>
            <a:ext cx="20116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 b="0">
                <a:solidFill>
                  <a:srgbClr val="2D2D3D"/>
                </a:solidFill>
                <a:latin typeface="Calibri"/>
              </a:rPr>
              <a:t>Mindbreeze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5577840"/>
            <a:ext cx="7772400" cy="411480"/>
          </a:xfrm>
          <a:prstGeom prst="roundRect">
            <a:avLst/>
          </a:prstGeom>
          <a:solidFill>
            <a:srgbClr val="CCCCD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835640" y="5532120"/>
            <a:ext cx="1371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D2D3D"/>
                </a:solidFill>
                <a:latin typeface="Calibri"/>
              </a:rPr>
              <a:t>$8,641/mo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1520" y="54864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300">
                <a:solidFill>
                  <a:srgbClr val="9999AA"/>
                </a:solidFill>
                <a:latin typeface="Calibri"/>
              </a:rPr>
              <a:t>  OSS options (Qdrant, OpenSearch, LangChain) are $0 license but require months of engineering to productionize.</a:t>
            </a:r>
          </a:p>
          <a:p>
            <a:pPr>
              <a:spcAft>
                <a:spcPts val="800"/>
              </a:spcAft>
            </a:pPr>
            <a:r>
              <a:rPr sz="1300">
                <a:solidFill>
                  <a:srgbClr val="9999AA"/>
                </a:solidFill>
                <a:latin typeface="Calibri"/>
              </a:rPr>
              <a:t>  Cloud options (AWS, Azure, GCP) lack true air-gap capability.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D2D3D"/>
                </a:solidFill>
                <a:latin typeface="Calibri"/>
              </a:rPr>
              <a:t>Pricing &amp; Packaging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029200" cy="411480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0096D6"/>
                </a:solidFill>
                <a:latin typeface="Calibri"/>
              </a:rPr>
              <a:t>Pilot Package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2D2D3D"/>
                </a:solidFill>
                <a:latin typeface="Calibri"/>
              </a:rPr>
              <a:t>$850/month  |  6 months  |  $5,100 total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37744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2D2D3D"/>
                </a:solidFill>
                <a:latin typeface="Calibri"/>
              </a:rPr>
              <a:t>  Setup and integration support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2D3D"/>
                </a:solidFill>
                <a:latin typeface="Calibri"/>
              </a:rPr>
              <a:t>  Initial knowledge base ingestion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2D3D"/>
                </a:solidFill>
                <a:latin typeface="Calibri"/>
              </a:rPr>
              <a:t>  Operator onboarding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2D3D"/>
                </a:solidFill>
                <a:latin typeface="Calibri"/>
              </a:rPr>
              <a:t>  Monthly optimization review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2D2D3D"/>
                </a:solidFill>
                <a:latin typeface="Calibri"/>
              </a:rPr>
              <a:t>  35% minimum margin target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1097280"/>
            <a:ext cx="5029200" cy="182880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96D6"/>
                </a:solidFill>
                <a:latin typeface="Calibri"/>
              </a:rPr>
              <a:t>Hardware (On-Prem Only)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92240" y="17373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>
                <a:solidFill>
                  <a:srgbClr val="2D2D3D"/>
                </a:solidFill>
                <a:latin typeface="Calibri"/>
              </a:rPr>
              <a:t>NVIDIA DGX Spark: $3,999 (customer purchase)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9456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>
                <a:solidFill>
                  <a:srgbClr val="E84D4D"/>
                </a:solidFill>
                <a:latin typeface="Calibri"/>
              </a:rPr>
              <a:t>Bundling model TBD — options: separate purchase,
bundled pricing, or lease-to-own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3200400"/>
            <a:ext cx="5029200" cy="201168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33832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E84D4D"/>
                </a:solidFill>
                <a:latin typeface="Calibri"/>
              </a:rPr>
              <a:t>DECISIONS NEEDED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92240" y="3840480"/>
            <a:ext cx="457200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Hardware bundling model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Post-pilot conversion pricing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Tiered support levels</a:t>
            </a:r>
          </a:p>
          <a:p>
            <a:pPr>
              <a:spcAft>
                <a:spcPts val="800"/>
              </a:spcAft>
            </a:pPr>
            <a:r>
              <a:rPr sz="1400">
                <a:solidFill>
                  <a:srgbClr val="2D2D3D"/>
                </a:solidFill>
                <a:latin typeface="Calibri"/>
              </a:rPr>
              <a:t>  Hosted instance cost model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D2D3D"/>
                </a:solidFill>
                <a:latin typeface="Calibri"/>
              </a:rPr>
              <a:t>Go-to-Market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005840"/>
            <a:ext cx="5029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96D6"/>
                </a:solidFill>
                <a:latin typeface="Calibri"/>
              </a:rPr>
              <a:t>Messaging &amp; Channels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5303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2D2D3D"/>
                </a:solidFill>
                <a:latin typeface="Calibri"/>
              </a:rPr>
              <a:t>Primary message: </a:t>
            </a:r>
            <a:r>
              <a:rPr sz="1500" b="0">
                <a:solidFill>
                  <a:srgbClr val="2D2D3D"/>
                </a:solidFill>
                <a:latin typeface="Calibri"/>
              </a:rPr>
              <a:t>"Air-gapped knowledge assistant with predictable SMB pricing and hands-on support."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D2D3D"/>
                </a:solidFill>
                <a:latin typeface="Calibri"/>
              </a:rPr>
              <a:t>Launch market: </a:t>
            </a:r>
            <a:r>
              <a:rPr sz="1500" b="0">
                <a:solidFill>
                  <a:srgbClr val="2D2D3D"/>
                </a:solidFill>
                <a:latin typeface="Calibri"/>
              </a:rPr>
              <a:t>West Coast, Portland OR hub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D2D3D"/>
                </a:solidFill>
                <a:latin typeface="Calibri"/>
              </a:rPr>
              <a:t>Primary channel: </a:t>
            </a:r>
            <a:r>
              <a:rPr sz="1500" b="0">
                <a:solidFill>
                  <a:srgbClr val="2D2D3D"/>
                </a:solidFill>
                <a:latin typeface="Calibri"/>
              </a:rPr>
              <a:t>Direct outbound (email + LinkedIn + warm intros)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D2D3D"/>
                </a:solidFill>
                <a:latin typeface="Calibri"/>
              </a:rPr>
              <a:t>Secondary: </a:t>
            </a:r>
            <a:r>
              <a:rPr sz="1500" b="0">
                <a:solidFill>
                  <a:srgbClr val="2D2D3D"/>
                </a:solidFill>
                <a:latin typeface="Calibri"/>
              </a:rPr>
              <a:t>Local events, MSP/IT consultant referrals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D2D3D"/>
                </a:solidFill>
                <a:latin typeface="Calibri"/>
              </a:rPr>
              <a:t>Budget: </a:t>
            </a:r>
            <a:r>
              <a:rPr sz="1500" b="0">
                <a:solidFill>
                  <a:srgbClr val="2D2D3D"/>
                </a:solidFill>
                <a:latin typeface="Calibri"/>
              </a:rPr>
              <a:t>&lt;$10,000 total through Sep 16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D2D3D"/>
                </a:solidFill>
                <a:latin typeface="Calibri"/>
              </a:rPr>
              <a:t>Max CAC: </a:t>
            </a:r>
            <a:r>
              <a:rPr sz="1500" b="0">
                <a:solidFill>
                  <a:srgbClr val="2D2D3D"/>
                </a:solidFill>
                <a:latin typeface="Calibri"/>
              </a:rPr>
              <a:t>$1,500 per paid pilot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0" y="10058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>
                <a:solidFill>
                  <a:srgbClr val="0096D6"/>
                </a:solidFill>
                <a:latin typeface="Calibri"/>
              </a:rPr>
              <a:t>Priority Verticals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0" y="1463040"/>
            <a:ext cx="4572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2D2D3D"/>
                </a:solidFill>
                <a:latin typeface="Calibri"/>
              </a:rPr>
              <a:t>1. Legal</a:t>
            </a:r>
            <a:r>
              <a:rPr sz="1500" b="0">
                <a:solidFill>
                  <a:srgbClr val="2D2D3D"/>
                </a:solidFill>
                <a:latin typeface="Calibri"/>
              </a:rPr>
              <a:t> — document-heavy, strict confidentiality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D2D3D"/>
                </a:solidFill>
                <a:latin typeface="Calibri"/>
              </a:rPr>
              <a:t>2. Manufacturing</a:t>
            </a:r>
            <a:r>
              <a:rPr sz="1500" b="0">
                <a:solidFill>
                  <a:srgbClr val="2D2D3D"/>
                </a:solidFill>
                <a:latin typeface="Calibri"/>
              </a:rPr>
              <a:t> — SOPs, safety, compliance docs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D2D3D"/>
                </a:solidFill>
                <a:latin typeface="Calibri"/>
              </a:rPr>
              <a:t>3. Financial Services</a:t>
            </a:r>
            <a:r>
              <a:rPr sz="1500" b="0">
                <a:solidFill>
                  <a:srgbClr val="2D2D3D"/>
                </a:solidFill>
                <a:latin typeface="Calibri"/>
              </a:rPr>
              <a:t> — regulatory, audit, data sovereignty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D2D3D"/>
                </a:solidFill>
                <a:latin typeface="Calibri"/>
              </a:rPr>
              <a:t>4. Agriculture</a:t>
            </a:r>
            <a:r>
              <a:rPr sz="1500" b="0">
                <a:solidFill>
                  <a:srgbClr val="2D2D3D"/>
                </a:solidFill>
                <a:latin typeface="Calibri"/>
              </a:rPr>
              <a:t> — process docs, seasonal onboarding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D2D3D"/>
                </a:solidFill>
                <a:latin typeface="Calibri"/>
              </a:rPr>
              <a:t>5. Landscaping</a:t>
            </a:r>
            <a:r>
              <a:rPr sz="1500" b="0">
                <a:solidFill>
                  <a:srgbClr val="2D2D3D"/>
                </a:solidFill>
                <a:latin typeface="Calibri"/>
              </a:rPr>
              <a:t> — operational SOPs, turnover mgmt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846320"/>
            <a:ext cx="10515600" cy="137160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4937760"/>
            <a:ext cx="4572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B48A"/>
                </a:solidFill>
                <a:latin typeface="Calibri"/>
              </a:rPr>
              <a:t>Win Themes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5212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</a:pPr>
            <a:r>
              <a:rPr sz="1300" b="1">
                <a:solidFill>
                  <a:srgbClr val="2D2D3D"/>
                </a:solidFill>
                <a:latin typeface="Calibri"/>
              </a:rPr>
              <a:t>Security: </a:t>
            </a:r>
            <a:r>
              <a:rPr sz="1300" b="0">
                <a:solidFill>
                  <a:srgbClr val="2D2D3D"/>
                </a:solidFill>
                <a:latin typeface="Calibri"/>
              </a:rPr>
              <a:t>"Built for environments where internet-independent runtime matters."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D2D3D"/>
                </a:solidFill>
                <a:latin typeface="Calibri"/>
              </a:rPr>
              <a:t>Cost: </a:t>
            </a:r>
            <a:r>
              <a:rPr sz="1300" b="0">
                <a:solidFill>
                  <a:srgbClr val="2D2D3D"/>
                </a:solidFill>
                <a:latin typeface="Calibri"/>
              </a:rPr>
              <a:t>"Predictable pricing and lower total ownership burden for SMB operations."</a:t>
            </a:r>
          </a:p>
          <a:p>
            <a:pPr>
              <a:spcAft>
                <a:spcPts val="400"/>
              </a:spcAft>
            </a:pPr>
            <a:r>
              <a:rPr sz="1300" b="1">
                <a:solidFill>
                  <a:srgbClr val="2D2D3D"/>
                </a:solidFill>
                <a:latin typeface="Calibri"/>
              </a:rPr>
              <a:t>Service: </a:t>
            </a:r>
            <a:r>
              <a:rPr sz="1300" b="0">
                <a:solidFill>
                  <a:srgbClr val="2D2D3D"/>
                </a:solidFill>
                <a:latin typeface="Calibri"/>
              </a:rPr>
              <a:t>"Hands-on rollout and ongoing support instead of self-service complexity."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D2D3D"/>
                </a:solidFill>
                <a:latin typeface="Calibri"/>
              </a:rPr>
              <a:t>Timeline &amp; Milestones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828800"/>
            <a:ext cx="10698480" cy="109728"/>
          </a:xfrm>
          <a:prstGeom prst="roundRect">
            <a:avLst/>
          </a:prstGeom>
          <a:solidFill>
            <a:srgbClr val="9999A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2299" y="1737360"/>
            <a:ext cx="274320" cy="27432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7979" y="13258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96D6"/>
                </a:solidFill>
                <a:latin typeface="Calibri"/>
              </a:rPr>
              <a:t>Feb 13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65099" y="214884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2D3D"/>
                </a:solidFill>
                <a:latin typeface="Calibri"/>
              </a:rPr>
              <a:t>MRD Review</a:t>
            </a:r>
          </a:p>
        </p:txBody>
      </p:sp>
      <p:sp>
        <p:nvSpPr>
          <p:cNvPr id="8" name="Oval 7"/>
          <p:cNvSpPr/>
          <p:nvPr/>
        </p:nvSpPr>
        <p:spPr>
          <a:xfrm>
            <a:off x="2734056" y="1737360"/>
            <a:ext cx="274320" cy="274320"/>
          </a:xfrm>
          <a:prstGeom prst="ellipse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459736" y="13258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48A"/>
                </a:solidFill>
                <a:latin typeface="Calibri"/>
              </a:rPr>
              <a:t>Mar 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276856" y="214884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2D3D"/>
                </a:solidFill>
                <a:latin typeface="Calibri"/>
              </a:rPr>
              <a:t>Internal
Testing</a:t>
            </a:r>
          </a:p>
        </p:txBody>
      </p:sp>
      <p:sp>
        <p:nvSpPr>
          <p:cNvPr id="11" name="Oval 10"/>
          <p:cNvSpPr/>
          <p:nvPr/>
        </p:nvSpPr>
        <p:spPr>
          <a:xfrm>
            <a:off x="5408676" y="1737360"/>
            <a:ext cx="274320" cy="274320"/>
          </a:xfrm>
          <a:prstGeom prst="ellipse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134356" y="13258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B700"/>
                </a:solidFill>
                <a:latin typeface="Calibri"/>
              </a:rPr>
              <a:t>Apr 20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51476" y="214884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2D3D"/>
                </a:solidFill>
                <a:latin typeface="Calibri"/>
              </a:rPr>
              <a:t>Demo
Customers</a:t>
            </a:r>
          </a:p>
        </p:txBody>
      </p:sp>
      <p:sp>
        <p:nvSpPr>
          <p:cNvPr id="14" name="Oval 13"/>
          <p:cNvSpPr/>
          <p:nvPr/>
        </p:nvSpPr>
        <p:spPr>
          <a:xfrm>
            <a:off x="7013448" y="1737360"/>
            <a:ext cx="274320" cy="274320"/>
          </a:xfrm>
          <a:prstGeom prst="ellipse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739128" y="13258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96D6"/>
                </a:solidFill>
                <a:latin typeface="Calibri"/>
              </a:rPr>
              <a:t>May 25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556248" y="214884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2D3D"/>
                </a:solidFill>
                <a:latin typeface="Calibri"/>
              </a:rPr>
              <a:t>Product
Launch (GA)</a:t>
            </a:r>
          </a:p>
        </p:txBody>
      </p:sp>
      <p:sp>
        <p:nvSpPr>
          <p:cNvPr id="17" name="Oval 16"/>
          <p:cNvSpPr/>
          <p:nvPr/>
        </p:nvSpPr>
        <p:spPr>
          <a:xfrm>
            <a:off x="8939174" y="1737360"/>
            <a:ext cx="274320" cy="274320"/>
          </a:xfrm>
          <a:prstGeom prst="ellipse">
            <a:avLst/>
          </a:prstGeom>
          <a:solidFill>
            <a:srgbClr val="00B4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64854" y="13258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00B48A"/>
                </a:solidFill>
                <a:latin typeface="Calibri"/>
              </a:rPr>
              <a:t>Jul 19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81974" y="214884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2D3D"/>
                </a:solidFill>
                <a:latin typeface="Calibri"/>
              </a:rPr>
              <a:t>Quality
Targets Met</a:t>
            </a:r>
          </a:p>
        </p:txBody>
      </p:sp>
      <p:sp>
        <p:nvSpPr>
          <p:cNvPr id="20" name="Oval 19"/>
          <p:cNvSpPr/>
          <p:nvPr/>
        </p:nvSpPr>
        <p:spPr>
          <a:xfrm>
            <a:off x="11292840" y="1737360"/>
            <a:ext cx="274320" cy="274320"/>
          </a:xfrm>
          <a:prstGeom prst="ellipse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11018520" y="13258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E84D4D"/>
                </a:solidFill>
                <a:latin typeface="Calibri"/>
              </a:rPr>
              <a:t>Sep 16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835640" y="2148840"/>
            <a:ext cx="11887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2D2D3D"/>
                </a:solidFill>
                <a:latin typeface="Calibri"/>
              </a:rPr>
              <a:t>6 Paid
Pilots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114800" y="320040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00B48A"/>
                </a:solidFill>
                <a:latin typeface="Calibri"/>
              </a:rPr>
              <a:t>90-day quality ramp (Apr 20 → Jul 19)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31520" y="384048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2D3D"/>
                </a:solidFill>
                <a:latin typeface="Calibri"/>
              </a:rPr>
              <a:t>Feature Readiness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297680"/>
            <a:ext cx="100584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2D2D3D"/>
                </a:solidFill>
                <a:latin typeface="Calibri"/>
              </a:rPr>
              <a:t>Ready now: </a:t>
            </a:r>
            <a:r>
              <a:rPr sz="1500" b="0">
                <a:solidFill>
                  <a:srgbClr val="2D2D3D"/>
                </a:solidFill>
                <a:latin typeface="Calibri"/>
              </a:rPr>
              <a:t>Core RAG, access control, audit, React app, JWT auth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D2D3D"/>
                </a:solidFill>
                <a:latin typeface="Calibri"/>
              </a:rPr>
              <a:t>By Mar 16 (internal): </a:t>
            </a:r>
            <a:r>
              <a:rPr sz="1500" b="0">
                <a:solidFill>
                  <a:srgbClr val="2D2D3D"/>
                </a:solidFill>
                <a:latin typeface="Calibri"/>
              </a:rPr>
              <a:t>AD/SSO integration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D2D3D"/>
                </a:solidFill>
                <a:latin typeface="Calibri"/>
              </a:rPr>
              <a:t>By Apr 20 (demo): </a:t>
            </a:r>
            <a:r>
              <a:rPr sz="1500" b="0">
                <a:solidFill>
                  <a:srgbClr val="2D2D3D"/>
                </a:solidFill>
                <a:latin typeface="Calibri"/>
              </a:rPr>
              <a:t>Embeddable widget, usage reports, backup/restore, RAGAS evaluation, tiered XLSX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D2D3D"/>
                </a:solidFill>
                <a:latin typeface="Calibri"/>
              </a:rPr>
              <a:t>Success Metrics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5029200" cy="365760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96D6"/>
                </a:solidFill>
                <a:latin typeface="Calibri"/>
              </a:rPr>
              <a:t>Business Metrics (by Sep 16)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05840" y="1737360"/>
            <a:ext cx="45720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 b="1">
                <a:solidFill>
                  <a:srgbClr val="2D2D3D"/>
                </a:solidFill>
                <a:latin typeface="Calibri"/>
              </a:rPr>
              <a:t>6 </a:t>
            </a:r>
            <a:r>
              <a:rPr sz="1600" b="0">
                <a:solidFill>
                  <a:srgbClr val="2D2D3D"/>
                </a:solidFill>
                <a:latin typeface="Calibri"/>
              </a:rPr>
              <a:t>paid pilots closed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D2D3D"/>
                </a:solidFill>
                <a:latin typeface="Calibri"/>
              </a:rPr>
              <a:t>$5,100 </a:t>
            </a:r>
            <a:r>
              <a:rPr sz="1600" b="0">
                <a:solidFill>
                  <a:srgbClr val="2D2D3D"/>
                </a:solidFill>
                <a:latin typeface="Calibri"/>
              </a:rPr>
              <a:t>MRR at cohort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D2D3D"/>
                </a:solidFill>
                <a:latin typeface="Calibri"/>
              </a:rPr>
              <a:t>24 </a:t>
            </a:r>
            <a:r>
              <a:rPr sz="1600" b="0">
                <a:solidFill>
                  <a:srgbClr val="2D2D3D"/>
                </a:solidFill>
                <a:latin typeface="Calibri"/>
              </a:rPr>
              <a:t>qualified opportunities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D2D3D"/>
                </a:solidFill>
                <a:latin typeface="Calibri"/>
              </a:rPr>
              <a:t>12 </a:t>
            </a:r>
            <a:r>
              <a:rPr sz="1600" b="0">
                <a:solidFill>
                  <a:srgbClr val="2D2D3D"/>
                </a:solidFill>
                <a:latin typeface="Calibri"/>
              </a:rPr>
              <a:t>proposals sent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D2D3D"/>
                </a:solidFill>
                <a:latin typeface="Calibri"/>
              </a:rPr>
              <a:t>50% </a:t>
            </a:r>
            <a:r>
              <a:rPr sz="1600" b="0">
                <a:solidFill>
                  <a:srgbClr val="2D2D3D"/>
                </a:solidFill>
                <a:latin typeface="Calibri"/>
              </a:rPr>
              <a:t>close rate (proposal → pilot)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D2D3D"/>
                </a:solidFill>
                <a:latin typeface="Calibri"/>
              </a:rPr>
              <a:t>≤$1,500 </a:t>
            </a:r>
            <a:r>
              <a:rPr sz="1600" b="0">
                <a:solidFill>
                  <a:srgbClr val="2D2D3D"/>
                </a:solidFill>
                <a:latin typeface="Calibri"/>
              </a:rPr>
              <a:t>CAC per pilot</a:t>
            </a:r>
          </a:p>
          <a:p>
            <a:pPr>
              <a:spcAft>
                <a:spcPts val="800"/>
              </a:spcAft>
            </a:pPr>
            <a:r>
              <a:rPr sz="1600" b="1">
                <a:solidFill>
                  <a:srgbClr val="2D2D3D"/>
                </a:solidFill>
                <a:latin typeface="Calibri"/>
              </a:rPr>
              <a:t>&lt;$10,000 </a:t>
            </a:r>
            <a:r>
              <a:rPr sz="1600" b="0">
                <a:solidFill>
                  <a:srgbClr val="2D2D3D"/>
                </a:solidFill>
                <a:latin typeface="Calibri"/>
              </a:rPr>
              <a:t>total spend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097280"/>
            <a:ext cx="5029200" cy="365760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92240" y="1280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0096D6"/>
                </a:solidFill>
                <a:latin typeface="Calibri"/>
              </a:rPr>
              <a:t>Product Metrics (RAGAS)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92240" y="1737360"/>
            <a:ext cx="20116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3D"/>
                </a:solidFill>
                <a:latin typeface="Calibri"/>
              </a:rPr>
              <a:t>Launch: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1737360"/>
            <a:ext cx="22860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2D2D3D"/>
                </a:solidFill>
                <a:latin typeface="Calibri"/>
              </a:rPr>
              <a:t>90-Day Target: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92240" y="2103120"/>
            <a:ext cx="457200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2D2D3D"/>
                </a:solidFill>
                <a:latin typeface="Calibri"/>
              </a:rPr>
              <a:t>Faithfulness: </a:t>
            </a:r>
            <a:r>
              <a:rPr sz="1500" b="0">
                <a:solidFill>
                  <a:srgbClr val="2D2D3D"/>
                </a:solidFill>
                <a:latin typeface="Calibri"/>
              </a:rPr>
              <a:t>&gt;0.70 → &gt;0.85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D2D3D"/>
                </a:solidFill>
                <a:latin typeface="Calibri"/>
              </a:rPr>
              <a:t>Answer Relevancy: </a:t>
            </a:r>
            <a:r>
              <a:rPr sz="1500" b="0">
                <a:solidFill>
                  <a:srgbClr val="2D2D3D"/>
                </a:solidFill>
                <a:latin typeface="Calibri"/>
              </a:rPr>
              <a:t>&gt;0.60 → &gt;0.80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D2D3D"/>
                </a:solidFill>
                <a:latin typeface="Calibri"/>
              </a:rPr>
              <a:t>Context Precision: </a:t>
            </a:r>
            <a:r>
              <a:rPr sz="1500" b="0">
                <a:solidFill>
                  <a:srgbClr val="2D2D3D"/>
                </a:solidFill>
                <a:latin typeface="Calibri"/>
              </a:rPr>
              <a:t>&gt;0.50 → &gt;0.70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D2D3D"/>
                </a:solidFill>
                <a:latin typeface="Calibri"/>
              </a:rPr>
              <a:t>Context Recall: </a:t>
            </a:r>
            <a:r>
              <a:rPr sz="1500" b="0">
                <a:solidFill>
                  <a:srgbClr val="2D2D3D"/>
                </a:solidFill>
                <a:latin typeface="Calibri"/>
              </a:rPr>
              <a:t>&gt;0.70 → &gt;0.80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33832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 b="1">
                <a:solidFill>
                  <a:srgbClr val="2D2D3D"/>
                </a:solidFill>
                <a:latin typeface="Calibri"/>
              </a:rPr>
              <a:t>System uptime: </a:t>
            </a:r>
            <a:r>
              <a:rPr sz="1500" b="0">
                <a:solidFill>
                  <a:srgbClr val="2D2D3D"/>
                </a:solidFill>
                <a:latin typeface="Calibri"/>
              </a:rPr>
              <a:t>&gt;99.5%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2D2D3D"/>
                </a:solidFill>
                <a:latin typeface="Calibri"/>
              </a:rPr>
              <a:t>Response time (P95): </a:t>
            </a:r>
            <a:r>
              <a:rPr sz="1500" b="0">
                <a:solidFill>
                  <a:srgbClr val="2D2D3D"/>
                </a:solidFill>
                <a:latin typeface="Calibri"/>
              </a:rPr>
              <a:t>&lt;10 seconds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2D2D3D"/>
                </a:solidFill>
                <a:latin typeface="Calibri"/>
              </a:rPr>
              <a:t>Per-Pilot KPIs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39496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400">
                <a:solidFill>
                  <a:srgbClr val="9999AA"/>
                </a:solidFill>
                <a:latin typeface="Calibri"/>
              </a:rPr>
              <a:t>  Time-to-first-usable-answer  |  Reduction in document search time  |  Onboarding acceleration  |  Access-control correctness  |  Operator adoption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96D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D2D3D"/>
                </a:solidFill>
                <a:latin typeface="Calibri"/>
              </a:rPr>
              <a:t>Risks &amp; Mitigations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097280"/>
            <a:ext cx="10515600" cy="77724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914400" y="1261872"/>
            <a:ext cx="822960" cy="41148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914400" y="12801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920240" y="118872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D2D3D"/>
                </a:solidFill>
                <a:latin typeface="Calibri"/>
              </a:rPr>
              <a:t>No early proof points</a:t>
            </a:r>
            <a:r>
              <a:rPr sz="1400">
                <a:solidFill>
                  <a:srgbClr val="9999AA"/>
                </a:solidFill>
                <a:latin typeface="Calibri"/>
              </a:rPr>
              <a:t>  →  Enforce KPI instrumentation from day 1 of each pilot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965960"/>
            <a:ext cx="10515600" cy="77724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914400" y="2130552"/>
            <a:ext cx="822960" cy="411480"/>
          </a:xfrm>
          <a:prstGeom prst="round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214884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920240" y="205740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D2D3D"/>
                </a:solidFill>
                <a:latin typeface="Calibri"/>
              </a:rPr>
              <a:t>DIY seen as 'good enough'</a:t>
            </a:r>
            <a:r>
              <a:rPr sz="1400">
                <a:solidFill>
                  <a:srgbClr val="9999AA"/>
                </a:solidFill>
                <a:latin typeface="Calibri"/>
              </a:rPr>
              <a:t>  →  Sell time-to-value and support, not just technical capability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2834640"/>
            <a:ext cx="10515600" cy="77724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914400" y="2999232"/>
            <a:ext cx="822960" cy="411480"/>
          </a:xfrm>
          <a:prstGeom prst="round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301752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920240" y="292608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D2D3D"/>
                </a:solidFill>
                <a:latin typeface="Calibri"/>
              </a:rPr>
              <a:t>Long security reviews</a:t>
            </a:r>
            <a:r>
              <a:rPr sz="1400">
                <a:solidFill>
                  <a:srgbClr val="9999AA"/>
                </a:solidFill>
                <a:latin typeface="Calibri"/>
              </a:rPr>
              <a:t>  →  Pre-package security brief and deployment checklist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3703320"/>
            <a:ext cx="10515600" cy="77724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914400" y="3867912"/>
            <a:ext cx="822960" cy="411480"/>
          </a:xfrm>
          <a:prstGeom prst="round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14400" y="388620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920240" y="379476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D2D3D"/>
                </a:solidFill>
                <a:latin typeface="Calibri"/>
              </a:rPr>
              <a:t>SMB budget friction</a:t>
            </a:r>
            <a:r>
              <a:rPr sz="1400">
                <a:solidFill>
                  <a:srgbClr val="9999AA"/>
                </a:solidFill>
                <a:latin typeface="Calibri"/>
              </a:rPr>
              <a:t>  →  Clear fixed $850/mo pricing. No surprise costs.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1520" y="4572000"/>
            <a:ext cx="10515600" cy="77724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914400" y="4736592"/>
            <a:ext cx="822960" cy="411480"/>
          </a:xfrm>
          <a:prstGeom prst="round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4400" y="475488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920240" y="466344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D2D3D"/>
                </a:solidFill>
                <a:latin typeface="Calibri"/>
              </a:rPr>
              <a:t>DGX Spark supply constraints</a:t>
            </a:r>
            <a:r>
              <a:rPr sz="1400">
                <a:solidFill>
                  <a:srgbClr val="9999AA"/>
                </a:solidFill>
                <a:latin typeface="Calibri"/>
              </a:rPr>
              <a:t>  →  Hosted deployment as alternative path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731520" y="5440680"/>
            <a:ext cx="10515600" cy="777240"/>
          </a:xfrm>
          <a:prstGeom prst="roundRect">
            <a:avLst/>
          </a:prstGeom>
          <a:solidFill>
            <a:srgbClr val="F0F0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ounded Rectangle 24"/>
          <p:cNvSpPr/>
          <p:nvPr/>
        </p:nvSpPr>
        <p:spPr>
          <a:xfrm>
            <a:off x="914400" y="5605272"/>
            <a:ext cx="822960" cy="411480"/>
          </a:xfrm>
          <a:prstGeom prst="roundRect">
            <a:avLst/>
          </a:prstGeom>
          <a:solidFill>
            <a:srgbClr val="FFB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14400" y="5623560"/>
            <a:ext cx="8229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MED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920240" y="5532120"/>
            <a:ext cx="896112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2D2D3D"/>
                </a:solidFill>
                <a:latin typeface="Calibri"/>
              </a:rPr>
              <a:t>Model quality for domain</a:t>
            </a:r>
            <a:r>
              <a:rPr sz="1400">
                <a:solidFill>
                  <a:srgbClr val="9999AA"/>
                </a:solidFill>
                <a:latin typeface="Calibri"/>
              </a:rPr>
              <a:t>  →  90-day ramp with RAGAS evaluation. Swappable models.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E8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D2D3D"/>
                </a:solidFill>
                <a:latin typeface="Calibri"/>
              </a:rPr>
              <a:t>Decisions Required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914400"/>
            <a:ext cx="10058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2D2D3D"/>
                </a:solidFill>
                <a:latin typeface="Calibri"/>
              </a:rPr>
              <a:t>6 decisions needed from this meeting to move forward: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554480"/>
            <a:ext cx="10515600" cy="73152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164592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E84D4D"/>
                </a:solidFill>
                <a:latin typeface="Calibri"/>
              </a:rPr>
              <a:t>1. Product Name</a:t>
            </a:r>
            <a:r>
              <a:rPr sz="1500">
                <a:solidFill>
                  <a:srgbClr val="2D2D3D"/>
                </a:solidFill>
                <a:latin typeface="Calibri"/>
              </a:rPr>
              <a:t>  —  "AI Ready RAG" vs. alternatives — branding for market positioning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2377440"/>
            <a:ext cx="10515600" cy="73152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46888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E84D4D"/>
                </a:solidFill>
                <a:latin typeface="Calibri"/>
              </a:rPr>
              <a:t>2. Hardware Bundling</a:t>
            </a:r>
            <a:r>
              <a:rPr sz="1500">
                <a:solidFill>
                  <a:srgbClr val="2D2D3D"/>
                </a:solidFill>
                <a:latin typeface="Calibri"/>
              </a:rPr>
              <a:t>  —  Customer buys Spark separately, bundled pricing, or lease-to-own?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10515600" cy="73152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97280" y="329184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E84D4D"/>
                </a:solidFill>
                <a:latin typeface="Calibri"/>
              </a:rPr>
              <a:t>3. Hosted Infrastructure</a:t>
            </a:r>
            <a:r>
              <a:rPr sz="1500">
                <a:solidFill>
                  <a:srgbClr val="2D2D3D"/>
                </a:solidFill>
                <a:latin typeface="Calibri"/>
              </a:rPr>
              <a:t>  —  Cloud provider, VM sizing, cost model per customer instance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4023360"/>
            <a:ext cx="10515600" cy="73152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97280" y="411480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E84D4D"/>
                </a:solidFill>
                <a:latin typeface="Calibri"/>
              </a:rPr>
              <a:t>4. Post-Pilot Pricing</a:t>
            </a:r>
            <a:r>
              <a:rPr sz="1500">
                <a:solidFill>
                  <a:srgbClr val="2D2D3D"/>
                </a:solidFill>
                <a:latin typeface="Calibri"/>
              </a:rPr>
              <a:t>  —  Subscription tiers, support tiers, volume discounts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846320"/>
            <a:ext cx="10515600" cy="73152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97280" y="493776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E84D4D"/>
                </a:solidFill>
                <a:latin typeface="Calibri"/>
              </a:rPr>
              <a:t>5. Spanish Language</a:t>
            </a:r>
            <a:r>
              <a:rPr sz="1500">
                <a:solidFill>
                  <a:srgbClr val="2D2D3D"/>
                </a:solidFill>
                <a:latin typeface="Calibri"/>
              </a:rPr>
              <a:t>  —  Include in MVP, fast-follow, or evaluate only?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669280"/>
            <a:ext cx="10515600" cy="731520"/>
          </a:xfrm>
          <a:prstGeom prst="roundRect">
            <a:avLst/>
          </a:prstGeom>
          <a:solidFill>
            <a:srgbClr val="FFEBE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97280" y="5760720"/>
            <a:ext cx="98755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700" b="1">
                <a:solidFill>
                  <a:srgbClr val="E84D4D"/>
                </a:solidFill>
                <a:latin typeface="Calibri"/>
              </a:rPr>
              <a:t>6. Engineering Resources</a:t>
            </a:r>
            <a:r>
              <a:rPr sz="1500">
                <a:solidFill>
                  <a:srgbClr val="2D2D3D"/>
                </a:solidFill>
                <a:latin typeface="Calibri"/>
              </a:rPr>
              <a:t>  —  Team size, allocation, and sprint plan (Mar 16 → May 25)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00800"/>
            <a:ext cx="10058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9999AA"/>
                </a:solidFill>
                <a:latin typeface="Calibri"/>
              </a:rPr>
              <a:t>Additional items to complete: TAM/SAM/SOM, financial model, customer quotes (post-Mar 16), partnership strategy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